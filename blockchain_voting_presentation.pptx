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54864" cy="5070348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0" y="-457200"/>
            <a:ext cx="4572000" cy="4572000"/>
          </a:xfrm>
          <a:prstGeom prst="ellipse">
            <a:avLst/>
          </a:prstGeom>
          <a:solidFill>
            <a:srgbClr val="1B4F8A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217920" y="91440"/>
            <a:ext cx="3657600" cy="3657600"/>
          </a:xfrm>
          <a:prstGeom prst="ellipse">
            <a:avLst/>
          </a:prstGeom>
          <a:solidFill>
            <a:srgbClr val="00D4FF">
              <a:alpha val="12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457200"/>
            <a:ext cx="1645920" cy="1645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005840"/>
            <a:ext cx="2286000" cy="329184"/>
          </a:xfrm>
          <a:prstGeom prst="rect">
            <a:avLst/>
          </a:prstGeom>
          <a:solidFill>
            <a:srgbClr val="00D4FF">
              <a:alpha val="8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005840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A1628"/>
                </a:solidFill>
              </a:rPr>
              <a:t>BLOCKCHAIN PROJECT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146304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457200" y="2176272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 System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457200" y="3017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Ethereum Blockchain Technology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11480" y="3566160"/>
            <a:ext cx="1508760" cy="301752"/>
          </a:xfrm>
          <a:prstGeom prst="roundRect">
            <a:avLst>
              <a:gd name="adj" fmla="val 24242"/>
            </a:avLst>
          </a:prstGeom>
          <a:solidFill>
            <a:srgbClr val="132236"/>
          </a:solidFill>
          <a:ln/>
        </p:spPr>
      </p:sp>
      <p:sp>
        <p:nvSpPr>
          <p:cNvPr id="13" name="Text 10"/>
          <p:cNvSpPr/>
          <p:nvPr/>
        </p:nvSpPr>
        <p:spPr>
          <a:xfrm>
            <a:off x="411480" y="3566160"/>
            <a:ext cx="1508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D4FF"/>
                </a:solidFill>
              </a:rPr>
              <a:t>Ethereum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075688" y="3566160"/>
            <a:ext cx="1508760" cy="301752"/>
          </a:xfrm>
          <a:prstGeom prst="roundRect">
            <a:avLst>
              <a:gd name="adj" fmla="val 24242"/>
            </a:avLst>
          </a:prstGeom>
          <a:solidFill>
            <a:srgbClr val="132236"/>
          </a:solidFill>
          <a:ln/>
        </p:spPr>
      </p:sp>
      <p:sp>
        <p:nvSpPr>
          <p:cNvPr id="15" name="Text 12"/>
          <p:cNvSpPr/>
          <p:nvPr/>
        </p:nvSpPr>
        <p:spPr>
          <a:xfrm>
            <a:off x="2075688" y="3566160"/>
            <a:ext cx="1508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D4FF"/>
                </a:solidFill>
              </a:rPr>
              <a:t>Smart Contracts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739896" y="3566160"/>
            <a:ext cx="1508760" cy="301752"/>
          </a:xfrm>
          <a:prstGeom prst="roundRect">
            <a:avLst>
              <a:gd name="adj" fmla="val 24242"/>
            </a:avLst>
          </a:prstGeom>
          <a:solidFill>
            <a:srgbClr val="132236"/>
          </a:solidFill>
          <a:ln/>
        </p:spPr>
      </p:sp>
      <p:sp>
        <p:nvSpPr>
          <p:cNvPr id="17" name="Text 14"/>
          <p:cNvSpPr/>
          <p:nvPr/>
        </p:nvSpPr>
        <p:spPr>
          <a:xfrm>
            <a:off x="3739896" y="3566160"/>
            <a:ext cx="1508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D4FF"/>
                </a:solidFill>
              </a:rPr>
              <a:t>JWT Auth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404104" y="3566160"/>
            <a:ext cx="1508760" cy="301752"/>
          </a:xfrm>
          <a:prstGeom prst="roundRect">
            <a:avLst>
              <a:gd name="adj" fmla="val 24242"/>
            </a:avLst>
          </a:prstGeom>
          <a:solidFill>
            <a:srgbClr val="132236"/>
          </a:solidFill>
          <a:ln/>
        </p:spPr>
      </p:sp>
      <p:sp>
        <p:nvSpPr>
          <p:cNvPr id="19" name="Text 16"/>
          <p:cNvSpPr/>
          <p:nvPr/>
        </p:nvSpPr>
        <p:spPr>
          <a:xfrm>
            <a:off x="5404104" y="3566160"/>
            <a:ext cx="1508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D4FF"/>
                </a:solidFill>
              </a:rPr>
              <a:t>Decentralized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7068312" y="3566160"/>
            <a:ext cx="1508760" cy="301752"/>
          </a:xfrm>
          <a:prstGeom prst="roundRect">
            <a:avLst>
              <a:gd name="adj" fmla="val 24242"/>
            </a:avLst>
          </a:prstGeom>
          <a:solidFill>
            <a:srgbClr val="132236"/>
          </a:solidFill>
          <a:ln/>
        </p:spPr>
      </p:sp>
      <p:sp>
        <p:nvSpPr>
          <p:cNvPr id="21" name="Text 18"/>
          <p:cNvSpPr/>
          <p:nvPr/>
        </p:nvSpPr>
        <p:spPr>
          <a:xfrm>
            <a:off x="7068312" y="3566160"/>
            <a:ext cx="1508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D4FF"/>
                </a:solidFill>
              </a:rPr>
              <a:t>Tamper-Proof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23" name="Text 20"/>
          <p:cNvSpPr/>
          <p:nvPr/>
        </p:nvSpPr>
        <p:spPr>
          <a:xfrm>
            <a:off x="0" y="470001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Secure • Transparent • Trustless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3200400" cy="507034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74320" y="228600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voting systems are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by design.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3566160"/>
            <a:ext cx="1188720" cy="1188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474720" y="457200"/>
            <a:ext cx="26060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474720" y="457200"/>
            <a:ext cx="2606040" cy="6400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9" name="Text 6"/>
          <p:cNvSpPr/>
          <p:nvPr/>
        </p:nvSpPr>
        <p:spPr>
          <a:xfrm>
            <a:off x="3611880" y="5943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&amp; Tampering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611880" y="105156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records can be altered by malicious actors or officials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309360" y="457200"/>
            <a:ext cx="26060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309360" y="457200"/>
            <a:ext cx="2606040" cy="6400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3" name="Text 10"/>
          <p:cNvSpPr/>
          <p:nvPr/>
        </p:nvSpPr>
        <p:spPr>
          <a:xfrm>
            <a:off x="6446520" y="5943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Transparency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46520" y="105156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have no way to verify results are counted correctly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474720" y="2651760"/>
            <a:ext cx="26060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474720" y="2651760"/>
            <a:ext cx="2606040" cy="6400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7" name="Text 14"/>
          <p:cNvSpPr/>
          <p:nvPr/>
        </p:nvSpPr>
        <p:spPr>
          <a:xfrm>
            <a:off x="3611880" y="27889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Control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611880" y="324612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points of failure make systems vulnerable to attacks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309360" y="2651760"/>
            <a:ext cx="26060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309360" y="2651760"/>
            <a:ext cx="2606040" cy="6400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1" name="Text 18"/>
          <p:cNvSpPr/>
          <p:nvPr/>
        </p:nvSpPr>
        <p:spPr>
          <a:xfrm>
            <a:off x="6446520" y="27889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Remote Voting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446520" y="324612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In-person requirements reduce participation and accessibility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D4FF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D4FF"/>
                </a:solidFill>
              </a:rPr>
              <a:t>OUR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Blockchain-Powered Voting Platform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74720" y="1417320"/>
            <a:ext cx="2194560" cy="2194560"/>
          </a:xfrm>
          <a:prstGeom prst="ellipse">
            <a:avLst/>
          </a:prstGeom>
          <a:solidFill>
            <a:srgbClr val="1B4F8A">
              <a:alpha val="60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1600200"/>
            <a:ext cx="1371600" cy="1371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1371600"/>
            <a:ext cx="2286000" cy="1554480"/>
          </a:xfrm>
          <a:prstGeom prst="rect">
            <a:avLst/>
          </a:prstGeom>
          <a:solidFill>
            <a:srgbClr val="13223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5448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15544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Tamper-Proof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11480" y="205740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Immutable records on Ethereum chain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274320" y="3200400"/>
            <a:ext cx="2286000" cy="1554480"/>
          </a:xfrm>
          <a:prstGeom prst="rect">
            <a:avLst/>
          </a:prstGeom>
          <a:solidFill>
            <a:srgbClr val="13223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38328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14400" y="33832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Security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411480" y="388620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Secure voter authentication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6492240" y="1371600"/>
            <a:ext cx="2286000" cy="1554480"/>
          </a:xfrm>
          <a:prstGeom prst="rect">
            <a:avLst/>
          </a:prstGeom>
          <a:solidFill>
            <a:srgbClr val="13223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1554480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132320" y="15544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Voting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6629400" y="205740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Vote from anywhere, anytime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6492240" y="3200400"/>
            <a:ext cx="2286000" cy="1554480"/>
          </a:xfrm>
          <a:prstGeom prst="rect">
            <a:avLst/>
          </a:prstGeom>
          <a:solidFill>
            <a:srgbClr val="13223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383280"/>
            <a:ext cx="411480" cy="4114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32320" y="33832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Results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6629400" y="388620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Real-time transparent tallying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B4F8A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B4F8A"/>
                </a:solidFill>
              </a:rPr>
              <a:t>KEY FEATURES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This System Powerful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697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38912" y="1307592"/>
            <a:ext cx="475488" cy="475488"/>
          </a:xfrm>
          <a:prstGeom prst="ellipse">
            <a:avLst/>
          </a:prstGeom>
          <a:solidFill>
            <a:srgbClr val="1B4F8A">
              <a:alpha val="85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" y="1335024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24128" y="13258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11480" y="1856232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Implements JSON Web Tokens for secure voter identity verification, ensuring only authorized users can access and cast votes.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154680" y="1143000"/>
            <a:ext cx="2697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19272" y="1307592"/>
            <a:ext cx="475488" cy="475488"/>
          </a:xfrm>
          <a:prstGeom prst="ellipse">
            <a:avLst/>
          </a:prstGeom>
          <a:solidFill>
            <a:srgbClr val="627EEA">
              <a:alpha val="85000"/>
            </a:srgbClr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704" y="1335024"/>
            <a:ext cx="420624" cy="4206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04488" y="13258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 Blockchain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291840" y="1856232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Smart contracts on Ethereum create tamper-proof, transparent records. Every vote is immutably logged on the distributed ledger.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035040" y="1143000"/>
            <a:ext cx="2697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99632" y="1307592"/>
            <a:ext cx="475488" cy="475488"/>
          </a:xfrm>
          <a:prstGeom prst="ellipse">
            <a:avLst/>
          </a:prstGeom>
          <a:solidFill>
            <a:srgbClr val="10B981">
              <a:alpha val="85000"/>
            </a:srgbClr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1335024"/>
            <a:ext cx="420624" cy="42062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84848" y="132588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Trustless Architecture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172200" y="1856232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No intermediaries required. The decentralized system guarantees integrity without relying on any central authority.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274320" y="3063240"/>
            <a:ext cx="2697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38912" y="3227832"/>
            <a:ext cx="475488" cy="475488"/>
          </a:xfrm>
          <a:prstGeom prst="ellipse">
            <a:avLst/>
          </a:prstGeom>
          <a:solidFill>
            <a:srgbClr val="F59E0B">
              <a:alpha val="85000"/>
            </a:srgbClr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" y="3255264"/>
            <a:ext cx="420624" cy="42062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24128" y="32461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11480" y="3776472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Powerful control panel to manage candidates, configure election dates, monitor participation, and view real-time results.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3154680" y="3063240"/>
            <a:ext cx="2697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319272" y="3227832"/>
            <a:ext cx="475488" cy="475488"/>
          </a:xfrm>
          <a:prstGeom prst="ellipse">
            <a:avLst/>
          </a:prstGeom>
          <a:solidFill>
            <a:srgbClr val="EF4444">
              <a:alpha val="85000"/>
            </a:srgbClr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6704" y="3255264"/>
            <a:ext cx="420624" cy="42062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904488" y="32461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Intuitive Voter UI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3291840" y="3776472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Clean, easy-to-use interface allows voters to review candidates, cast votes securely, and verify their submission.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6035040" y="3063240"/>
            <a:ext cx="2697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199632" y="3227832"/>
            <a:ext cx="475488" cy="475488"/>
          </a:xfrm>
          <a:prstGeom prst="ellipse">
            <a:avLst/>
          </a:prstGeom>
          <a:solidFill>
            <a:srgbClr val="8B5CF6">
              <a:alpha val="85000"/>
            </a:srgbClr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7064" y="3255264"/>
            <a:ext cx="420624" cy="42062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784848" y="32461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Data Storage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6172200" y="3776472"/>
            <a:ext cx="2423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MySQL for voter registry combined with blockchain for vote records delivers the best of both security and performance.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D4FF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FF"/>
                </a:solidFill>
              </a:rPr>
              <a:t>SYSTEM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Decentralized Stack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697480" cy="3749040"/>
          </a:xfrm>
          <a:prstGeom prst="rect">
            <a:avLst/>
          </a:prstGeom>
          <a:solidFill>
            <a:srgbClr val="13223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2697480" cy="475488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9728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</a:rPr>
              <a:t>FRONTEND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69164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22860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Client Layer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8912" y="2788920"/>
            <a:ext cx="2368296" cy="3474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1" name="Text 8"/>
          <p:cNvSpPr/>
          <p:nvPr/>
        </p:nvSpPr>
        <p:spPr>
          <a:xfrm>
            <a:off x="438912" y="2788920"/>
            <a:ext cx="2368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HTML/CSS/JS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38912" y="3236976"/>
            <a:ext cx="2368296" cy="3474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3" name="Text 10"/>
          <p:cNvSpPr/>
          <p:nvPr/>
        </p:nvSpPr>
        <p:spPr>
          <a:xfrm>
            <a:off x="438912" y="3236976"/>
            <a:ext cx="2368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MetaMask Wallet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38912" y="3685032"/>
            <a:ext cx="2368296" cy="3474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5" name="Text 12"/>
          <p:cNvSpPr/>
          <p:nvPr/>
        </p:nvSpPr>
        <p:spPr>
          <a:xfrm>
            <a:off x="438912" y="3685032"/>
            <a:ext cx="2368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Browserify Bundler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38912" y="4133088"/>
            <a:ext cx="2368296" cy="3474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7" name="Text 14"/>
          <p:cNvSpPr/>
          <p:nvPr/>
        </p:nvSpPr>
        <p:spPr>
          <a:xfrm>
            <a:off x="438912" y="4133088"/>
            <a:ext cx="2368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Voter &amp; Admin UI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154680" y="1097280"/>
            <a:ext cx="2697480" cy="3749040"/>
          </a:xfrm>
          <a:prstGeom prst="rect">
            <a:avLst/>
          </a:prstGeom>
          <a:solidFill>
            <a:srgbClr val="13223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154680" y="1097280"/>
            <a:ext cx="2697480" cy="475488"/>
          </a:xfrm>
          <a:prstGeom prst="rect">
            <a:avLst/>
          </a:prstGeom>
          <a:solidFill>
            <a:srgbClr val="0D7A55"/>
          </a:solidFill>
          <a:ln/>
        </p:spPr>
      </p:sp>
      <p:sp>
        <p:nvSpPr>
          <p:cNvPr id="20" name="Text 17"/>
          <p:cNvSpPr/>
          <p:nvPr/>
        </p:nvSpPr>
        <p:spPr>
          <a:xfrm>
            <a:off x="3246120" y="109728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</a:rPr>
              <a:t>BACKEND</a:t>
            </a:r>
            <a:endParaRPr lang="en-US" sz="11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691640"/>
            <a:ext cx="502920" cy="50292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291840" y="22860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Application Layer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3319272" y="2788920"/>
            <a:ext cx="2368296" cy="3474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4" name="Text 20"/>
          <p:cNvSpPr/>
          <p:nvPr/>
        </p:nvSpPr>
        <p:spPr>
          <a:xfrm>
            <a:off x="3319272" y="2788920"/>
            <a:ext cx="2368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Node.js Server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3319272" y="3236976"/>
            <a:ext cx="2368296" cy="3474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6" name="Text 22"/>
          <p:cNvSpPr/>
          <p:nvPr/>
        </p:nvSpPr>
        <p:spPr>
          <a:xfrm>
            <a:off x="3319272" y="3236976"/>
            <a:ext cx="2368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FastAPI (Python)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3319272" y="3685032"/>
            <a:ext cx="2368296" cy="3474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8" name="Text 24"/>
          <p:cNvSpPr/>
          <p:nvPr/>
        </p:nvSpPr>
        <p:spPr>
          <a:xfrm>
            <a:off x="3319272" y="3685032"/>
            <a:ext cx="2368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JWT Authentication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3319272" y="4133088"/>
            <a:ext cx="2368296" cy="3474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0" name="Text 26"/>
          <p:cNvSpPr/>
          <p:nvPr/>
        </p:nvSpPr>
        <p:spPr>
          <a:xfrm>
            <a:off x="3319272" y="4133088"/>
            <a:ext cx="2368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MySQL Database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6035040" y="1097280"/>
            <a:ext cx="2697480" cy="3749040"/>
          </a:xfrm>
          <a:prstGeom prst="rect">
            <a:avLst/>
          </a:prstGeom>
          <a:solidFill>
            <a:srgbClr val="13223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6035040" y="1097280"/>
            <a:ext cx="2697480" cy="475488"/>
          </a:xfrm>
          <a:prstGeom prst="rect">
            <a:avLst/>
          </a:prstGeom>
          <a:solidFill>
            <a:srgbClr val="8B3CF7"/>
          </a:solidFill>
          <a:ln/>
        </p:spPr>
      </p:sp>
      <p:sp>
        <p:nvSpPr>
          <p:cNvPr id="33" name="Text 29"/>
          <p:cNvSpPr/>
          <p:nvPr/>
        </p:nvSpPr>
        <p:spPr>
          <a:xfrm>
            <a:off x="6126480" y="109728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</a:rPr>
              <a:t>BLOCKCHAIN</a:t>
            </a:r>
            <a:endParaRPr lang="en-US" sz="1100" dirty="0"/>
          </a:p>
        </p:txBody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691640"/>
            <a:ext cx="502920" cy="50292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6172200" y="22860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Consensus Layer</a:t>
            </a:r>
            <a:endParaRPr lang="en-US" sz="1300" dirty="0"/>
          </a:p>
        </p:txBody>
      </p:sp>
      <p:sp>
        <p:nvSpPr>
          <p:cNvPr id="36" name="Shape 31"/>
          <p:cNvSpPr/>
          <p:nvPr/>
        </p:nvSpPr>
        <p:spPr>
          <a:xfrm>
            <a:off x="6199632" y="2788920"/>
            <a:ext cx="2368296" cy="3474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7" name="Text 32"/>
          <p:cNvSpPr/>
          <p:nvPr/>
        </p:nvSpPr>
        <p:spPr>
          <a:xfrm>
            <a:off x="6199632" y="2788920"/>
            <a:ext cx="2368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Ethereum Network</a:t>
            </a:r>
            <a:endParaRPr lang="en-US" sz="1050" dirty="0"/>
          </a:p>
        </p:txBody>
      </p:sp>
      <p:sp>
        <p:nvSpPr>
          <p:cNvPr id="38" name="Shape 33"/>
          <p:cNvSpPr/>
          <p:nvPr/>
        </p:nvSpPr>
        <p:spPr>
          <a:xfrm>
            <a:off x="6199632" y="3236976"/>
            <a:ext cx="2368296" cy="3474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9" name="Text 34"/>
          <p:cNvSpPr/>
          <p:nvPr/>
        </p:nvSpPr>
        <p:spPr>
          <a:xfrm>
            <a:off x="6199632" y="3236976"/>
            <a:ext cx="2368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Solidity Smart Contracts</a:t>
            </a:r>
            <a:endParaRPr lang="en-US" sz="1050" dirty="0"/>
          </a:p>
        </p:txBody>
      </p:sp>
      <p:sp>
        <p:nvSpPr>
          <p:cNvPr id="40" name="Shape 35"/>
          <p:cNvSpPr/>
          <p:nvPr/>
        </p:nvSpPr>
        <p:spPr>
          <a:xfrm>
            <a:off x="6199632" y="3685032"/>
            <a:ext cx="2368296" cy="3474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1" name="Text 36"/>
          <p:cNvSpPr/>
          <p:nvPr/>
        </p:nvSpPr>
        <p:spPr>
          <a:xfrm>
            <a:off x="6199632" y="3685032"/>
            <a:ext cx="2368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Ganache (Local)</a:t>
            </a:r>
            <a:endParaRPr lang="en-US" sz="1050" dirty="0"/>
          </a:p>
        </p:txBody>
      </p:sp>
      <p:sp>
        <p:nvSpPr>
          <p:cNvPr id="42" name="Shape 37"/>
          <p:cNvSpPr/>
          <p:nvPr/>
        </p:nvSpPr>
        <p:spPr>
          <a:xfrm>
            <a:off x="6199632" y="4133088"/>
            <a:ext cx="2368296" cy="34747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3" name="Text 38"/>
          <p:cNvSpPr/>
          <p:nvPr/>
        </p:nvSpPr>
        <p:spPr>
          <a:xfrm>
            <a:off x="6199632" y="4133088"/>
            <a:ext cx="23682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Truffle Framework</a:t>
            </a:r>
            <a:endParaRPr lang="en-US" sz="1050" dirty="0"/>
          </a:p>
        </p:txBody>
      </p:sp>
      <p:sp>
        <p:nvSpPr>
          <p:cNvPr id="44" name="Shape 39"/>
          <p:cNvSpPr/>
          <p:nvPr/>
        </p:nvSpPr>
        <p:spPr>
          <a:xfrm>
            <a:off x="2971800" y="2926080"/>
            <a:ext cx="457200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dash"/>
          </a:ln>
        </p:spPr>
      </p:sp>
      <p:sp>
        <p:nvSpPr>
          <p:cNvPr id="45" name="Shape 40"/>
          <p:cNvSpPr/>
          <p:nvPr/>
        </p:nvSpPr>
        <p:spPr>
          <a:xfrm>
            <a:off x="5852160" y="2926080"/>
            <a:ext cx="457200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dash"/>
          </a:ln>
        </p:spPr>
      </p:sp>
      <p:sp>
        <p:nvSpPr>
          <p:cNvPr id="46" name="Text 41"/>
          <p:cNvSpPr/>
          <p:nvPr/>
        </p:nvSpPr>
        <p:spPr>
          <a:xfrm>
            <a:off x="2971800" y="27432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D4FF"/>
                </a:solidFill>
              </a:rPr>
              <a:t>API</a:t>
            </a:r>
            <a:endParaRPr lang="en-US" sz="800" dirty="0"/>
          </a:p>
        </p:txBody>
      </p:sp>
      <p:sp>
        <p:nvSpPr>
          <p:cNvPr id="47" name="Text 42"/>
          <p:cNvSpPr/>
          <p:nvPr/>
        </p:nvSpPr>
        <p:spPr>
          <a:xfrm>
            <a:off x="5852160" y="274320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D4FF"/>
                </a:solidFill>
              </a:rPr>
              <a:t>RPC</a:t>
            </a:r>
            <a:endParaRPr lang="en-US" sz="800" dirty="0"/>
          </a:p>
        </p:txBody>
      </p:sp>
      <p:sp>
        <p:nvSpPr>
          <p:cNvPr id="48" name="Shape 4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B4F8A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B4F8A"/>
                </a:solidFill>
              </a:rPr>
              <a:t>TECH STACK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Tools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5603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2560320" cy="64008"/>
          </a:xfrm>
          <a:prstGeom prst="rect">
            <a:avLst/>
          </a:prstGeom>
          <a:solidFill>
            <a:srgbClr val="627EE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</a:rPr>
              <a:t>Blockchain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755648"/>
            <a:ext cx="109728" cy="109728"/>
          </a:xfrm>
          <a:prstGeom prst="ellipse">
            <a:avLst/>
          </a:prstGeom>
          <a:solidFill>
            <a:srgbClr val="627EE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7190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Ethereum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267712"/>
            <a:ext cx="109728" cy="109728"/>
          </a:xfrm>
          <a:prstGeom prst="ellipse">
            <a:avLst/>
          </a:prstGeom>
          <a:solidFill>
            <a:srgbClr val="627EE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23113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Solidity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779776"/>
            <a:ext cx="109728" cy="109728"/>
          </a:xfrm>
          <a:prstGeom prst="ellipse">
            <a:avLst/>
          </a:prstGeom>
          <a:solidFill>
            <a:srgbClr val="627EE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7432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Truffle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291840"/>
            <a:ext cx="109728" cy="109728"/>
          </a:xfrm>
          <a:prstGeom prst="ellipse">
            <a:avLst/>
          </a:prstGeom>
          <a:solidFill>
            <a:srgbClr val="627EEA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25526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Ganache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803904"/>
            <a:ext cx="109728" cy="109728"/>
          </a:xfrm>
          <a:prstGeom prst="ellipse">
            <a:avLst/>
          </a:prstGeom>
          <a:solidFill>
            <a:srgbClr val="627EEA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7673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MetaMask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0" y="1097280"/>
            <a:ext cx="25603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0" y="1097280"/>
            <a:ext cx="256032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333756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</a:rPr>
              <a:t>Backend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383280" y="1755648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3611880" y="17190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Node.js v18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383280" y="2267712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3611880" y="223113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FastAPI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383280" y="2779776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3611880" y="27432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Python 3.9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383280" y="329184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3611880" y="325526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MySQL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383280" y="3803904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3611880" y="37673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JWT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035040" y="1097280"/>
            <a:ext cx="25603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35040" y="1097280"/>
            <a:ext cx="256032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617220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628"/>
                </a:solidFill>
              </a:rPr>
              <a:t>Frontend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217920" y="1755648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6446520" y="17190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HTML5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217920" y="2267712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6446520" y="223113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CSS3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217920" y="2779776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6446520" y="27432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JavaScript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217920" y="3291840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1" name="Text 39"/>
          <p:cNvSpPr/>
          <p:nvPr/>
        </p:nvSpPr>
        <p:spPr>
          <a:xfrm>
            <a:off x="6446520" y="325526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Browserify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217920" y="3803904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3" name="Text 41"/>
          <p:cNvSpPr/>
          <p:nvPr/>
        </p:nvSpPr>
        <p:spPr>
          <a:xfrm>
            <a:off x="6446520" y="37673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Web3.js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365760" y="4617720"/>
            <a:ext cx="2560320" cy="292608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45" name="Text 43"/>
          <p:cNvSpPr/>
          <p:nvPr/>
        </p:nvSpPr>
        <p:spPr>
          <a:xfrm>
            <a:off x="365760" y="46177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4F8A"/>
                </a:solidFill>
              </a:rPr>
              <a:t>Node.js 18.14.0  •  Python 3.9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D4FF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FF"/>
                </a:solidFill>
              </a:rPr>
              <a:t>SMART CONTRACT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Voting.sol — The Heart of the System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937760" cy="37490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097280"/>
            <a:ext cx="4937760" cy="347472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1155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Voting.sol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80560" y="1179576"/>
            <a:ext cx="118872" cy="118872"/>
          </a:xfrm>
          <a:prstGeom prst="ellipse">
            <a:avLst/>
          </a:prstGeom>
          <a:solidFill>
            <a:srgbClr val="FF6058"/>
          </a:solidFill>
          <a:ln/>
        </p:spPr>
      </p:sp>
      <p:sp>
        <p:nvSpPr>
          <p:cNvPr id="9" name="Shape 7"/>
          <p:cNvSpPr/>
          <p:nvPr/>
        </p:nvSpPr>
        <p:spPr>
          <a:xfrm>
            <a:off x="4709160" y="1179576"/>
            <a:ext cx="118872" cy="118872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4937760" y="1179576"/>
            <a:ext cx="118872" cy="118872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536192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SPDX-License-Identifier: MIT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173278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pragma solidity ^0.8.0;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12598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contract Voting {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2322576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struct Candidate {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2519172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name;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271576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uint voteCount;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2912364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310896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mapping(address=&gt;bool) voted;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3305556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Candidate[] candidates;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369874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function castVote(uint id) public {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" y="3895344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require(!voted[msg.sender]);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4091940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candidates[id].voteCount++;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4288536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voted[msg.sender] = true;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2920" y="4485132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" y="468172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577840" y="10972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FF"/>
                </a:solidFill>
              </a:rPr>
              <a:t>How It Works</a:t>
            </a:r>
            <a:endParaRPr lang="en-US" sz="16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627632"/>
            <a:ext cx="274320" cy="27432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5943600" y="160934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Stores candidates with name and vote count</a:t>
            </a:r>
            <a:endParaRPr lang="en-US" sz="1100" dirty="0"/>
          </a:p>
        </p:txBody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2221992"/>
            <a:ext cx="274320" cy="27432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5943600" y="220370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Maps each wallet address to voting status</a:t>
            </a:r>
            <a:endParaRPr lang="en-US" sz="1100" dirty="0"/>
          </a:p>
        </p:txBody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2816352"/>
            <a:ext cx="274320" cy="27432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5943600" y="279806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Prevents double-voting with require guards</a:t>
            </a:r>
            <a:endParaRPr lang="en-US" sz="1100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3410712"/>
            <a:ext cx="274320" cy="27432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943600" y="339242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All votes are permanently on-chain</a:t>
            </a:r>
            <a:endParaRPr lang="en-US" sz="1100" dirty="0"/>
          </a:p>
        </p:txBody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0" y="4005072"/>
            <a:ext cx="274320" cy="27432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5943600" y="398678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Deployed via Truffle to Ganache / mainnet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B4F8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B4F8A"/>
                </a:solidFill>
              </a:rPr>
              <a:t>VOTING FLOW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Voting Process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143000"/>
            <a:ext cx="1572768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43000"/>
            <a:ext cx="1572768" cy="64008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28016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4F8A"/>
                </a:solidFill>
              </a:rPr>
              <a:t>01</a:t>
            </a:r>
            <a:endParaRPr lang="en-US" sz="2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82880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2377440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1628"/>
                </a:solidFill>
              </a:rPr>
              <a:t>Register &amp; Login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20040" y="2907792"/>
            <a:ext cx="138988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Voter registers with credentials. System authenticates via JWT and verifies eligibility.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1801368" y="2880360"/>
            <a:ext cx="164592" cy="0"/>
          </a:xfrm>
          <a:prstGeom prst="line">
            <a:avLst/>
          </a:prstGeom>
          <a:noFill/>
          <a:ln w="25400">
            <a:solidFill>
              <a:srgbClr val="1B4F8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965960" y="1143000"/>
            <a:ext cx="1572768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965960" y="1143000"/>
            <a:ext cx="1572768" cy="64008"/>
          </a:xfrm>
          <a:prstGeom prst="rect">
            <a:avLst/>
          </a:prstGeom>
          <a:solidFill>
            <a:srgbClr val="627EEA"/>
          </a:solidFill>
          <a:ln/>
        </p:spPr>
      </p:sp>
      <p:sp>
        <p:nvSpPr>
          <p:cNvPr id="14" name="Text 11"/>
          <p:cNvSpPr/>
          <p:nvPr/>
        </p:nvSpPr>
        <p:spPr>
          <a:xfrm>
            <a:off x="2011680" y="128016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27EEA"/>
                </a:solidFill>
              </a:rPr>
              <a:t>02</a:t>
            </a:r>
            <a:endParaRPr lang="en-US" sz="28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744" y="182880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057400" y="2377440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1628"/>
                </a:solidFill>
              </a:rPr>
              <a:t>Connect Wallet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2057400" y="2907792"/>
            <a:ext cx="138988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Voter connects MetaMask wallet to link their Ethereum address to their voter identity.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3538728" y="2880360"/>
            <a:ext cx="164592" cy="0"/>
          </a:xfrm>
          <a:prstGeom prst="line">
            <a:avLst/>
          </a:prstGeom>
          <a:noFill/>
          <a:ln w="25400">
            <a:solidFill>
              <a:srgbClr val="627EE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703320" y="1143000"/>
            <a:ext cx="1572768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703320" y="1143000"/>
            <a:ext cx="1572768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7"/>
          <p:cNvSpPr/>
          <p:nvPr/>
        </p:nvSpPr>
        <p:spPr>
          <a:xfrm>
            <a:off x="3749040" y="128016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</a:rPr>
              <a:t>03</a:t>
            </a:r>
            <a:endParaRPr lang="en-US" sz="28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4" y="1828800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794760" y="2377440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1628"/>
                </a:solidFill>
              </a:rPr>
              <a:t>Cast Vote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3794760" y="2907792"/>
            <a:ext cx="138988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Voter selects a candidate. Transaction is signed by wallet and sent to smart contract.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5276088" y="2880360"/>
            <a:ext cx="164592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440680" y="1143000"/>
            <a:ext cx="1572768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5440680" y="1143000"/>
            <a:ext cx="1572768" cy="640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8" name="Text 23"/>
          <p:cNvSpPr/>
          <p:nvPr/>
        </p:nvSpPr>
        <p:spPr>
          <a:xfrm>
            <a:off x="5486400" y="128016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5CF6"/>
                </a:solidFill>
              </a:rPr>
              <a:t>04</a:t>
            </a:r>
            <a:endParaRPr lang="en-US" sz="28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8464" y="1828800"/>
            <a:ext cx="457200" cy="4572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532120" y="2377440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1628"/>
                </a:solidFill>
              </a:rPr>
              <a:t>Blockchain Record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5532120" y="2907792"/>
            <a:ext cx="138988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Smart contract validates, records vote immutably on Ethereum. Cannot be altered.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7013448" y="2880360"/>
            <a:ext cx="164592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7178040" y="1143000"/>
            <a:ext cx="1572768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7178040" y="1143000"/>
            <a:ext cx="1572768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Text 29"/>
          <p:cNvSpPr/>
          <p:nvPr/>
        </p:nvSpPr>
        <p:spPr>
          <a:xfrm>
            <a:off x="7223760" y="128016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05</a:t>
            </a:r>
            <a:endParaRPr lang="en-US" sz="2800" dirty="0"/>
          </a:p>
        </p:txBody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5824" y="1828800"/>
            <a:ext cx="457200" cy="45720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7269480" y="2377440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1628"/>
                </a:solidFill>
              </a:rPr>
              <a:t>View Results</a:t>
            </a:r>
            <a:endParaRPr lang="en-US" sz="1150" dirty="0"/>
          </a:p>
        </p:txBody>
      </p:sp>
      <p:sp>
        <p:nvSpPr>
          <p:cNvPr id="38" name="Text 31"/>
          <p:cNvSpPr/>
          <p:nvPr/>
        </p:nvSpPr>
        <p:spPr>
          <a:xfrm>
            <a:off x="7269480" y="2907792"/>
            <a:ext cx="1389888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Real-time transparent results displayed. Anyone can verify the tally on-chain.</a:t>
            </a:r>
            <a:endParaRPr lang="en-US" sz="950" dirty="0"/>
          </a:p>
        </p:txBody>
      </p:sp>
      <p:sp>
        <p:nvSpPr>
          <p:cNvPr id="39" name="Shape 3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D4F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D4FF"/>
                </a:solidFill>
              </a:rPr>
              <a:t>SECURITY &amp; TRANSPARENCY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You Can Trust This System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114800" cy="1097280"/>
          </a:xfrm>
          <a:prstGeom prst="rect">
            <a:avLst/>
          </a:prstGeom>
          <a:solidFill>
            <a:srgbClr val="132236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143000"/>
            <a:ext cx="64008" cy="1097280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6304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33272" y="125272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Cryptographic Hashing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33272" y="1655064"/>
            <a:ext cx="3246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Every block in the chain is cryptographically linked. Any tampering is immediately detectable.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0" y="1143000"/>
            <a:ext cx="4114800" cy="1097280"/>
          </a:xfrm>
          <a:prstGeom prst="rect">
            <a:avLst/>
          </a:prstGeom>
          <a:solidFill>
            <a:srgbClr val="132236"/>
          </a:solidFill>
          <a:ln/>
        </p:spPr>
      </p:sp>
      <p:sp>
        <p:nvSpPr>
          <p:cNvPr id="11" name="Shape 8"/>
          <p:cNvSpPr/>
          <p:nvPr/>
        </p:nvSpPr>
        <p:spPr>
          <a:xfrm>
            <a:off x="4754880" y="1143000"/>
            <a:ext cx="64008" cy="109728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46304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68112" y="125272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 Double Voting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468112" y="1655064"/>
            <a:ext cx="3246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Smart contract uses address mapping to permanently prevent any voter from casting more than one vote.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20040" y="2423160"/>
            <a:ext cx="4114800" cy="1097280"/>
          </a:xfrm>
          <a:prstGeom prst="rect">
            <a:avLst/>
          </a:prstGeom>
          <a:solidFill>
            <a:srgbClr val="132236"/>
          </a:solidFill>
          <a:ln/>
        </p:spPr>
      </p:sp>
      <p:sp>
        <p:nvSpPr>
          <p:cNvPr id="16" name="Shape 12"/>
          <p:cNvSpPr/>
          <p:nvPr/>
        </p:nvSpPr>
        <p:spPr>
          <a:xfrm>
            <a:off x="320040" y="2423160"/>
            <a:ext cx="64008" cy="109728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74320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33272" y="253288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Decentralized Ledger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033272" y="2935224"/>
            <a:ext cx="3246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No single server or entity can alter results. Votes are distributed across the Ethereum network globally.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754880" y="2423160"/>
            <a:ext cx="4114800" cy="1097280"/>
          </a:xfrm>
          <a:prstGeom prst="rect">
            <a:avLst/>
          </a:prstGeom>
          <a:solidFill>
            <a:srgbClr val="132236"/>
          </a:solidFill>
          <a:ln/>
        </p:spPr>
      </p:sp>
      <p:sp>
        <p:nvSpPr>
          <p:cNvPr id="21" name="Shape 16"/>
          <p:cNvSpPr/>
          <p:nvPr/>
        </p:nvSpPr>
        <p:spPr>
          <a:xfrm>
            <a:off x="4754880" y="2423160"/>
            <a:ext cx="64008" cy="109728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74320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68112" y="253288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Public Auditability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468112" y="2935224"/>
            <a:ext cx="3246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All transactions are on a public ledger. Election observers and citizens can independently verify results.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20040" y="3703320"/>
            <a:ext cx="4114800" cy="1097280"/>
          </a:xfrm>
          <a:prstGeom prst="rect">
            <a:avLst/>
          </a:prstGeom>
          <a:solidFill>
            <a:srgbClr val="132236"/>
          </a:solidFill>
          <a:ln/>
        </p:spPr>
      </p:sp>
      <p:sp>
        <p:nvSpPr>
          <p:cNvPr id="26" name="Shape 20"/>
          <p:cNvSpPr/>
          <p:nvPr/>
        </p:nvSpPr>
        <p:spPr>
          <a:xfrm>
            <a:off x="320040" y="3703320"/>
            <a:ext cx="64008" cy="109728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023360"/>
            <a:ext cx="411480" cy="4114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033272" y="381304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JWT Token Security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1033272" y="4215384"/>
            <a:ext cx="3246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Short-lived tokens ensure sessions are secure. Voter identity verified before blockchain interaction.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4754880" y="3703320"/>
            <a:ext cx="4114800" cy="1097280"/>
          </a:xfrm>
          <a:prstGeom prst="rect">
            <a:avLst/>
          </a:prstGeom>
          <a:solidFill>
            <a:srgbClr val="132236"/>
          </a:solidFill>
          <a:ln/>
        </p:spPr>
      </p:sp>
      <p:sp>
        <p:nvSpPr>
          <p:cNvPr id="31" name="Shape 24"/>
          <p:cNvSpPr/>
          <p:nvPr/>
        </p:nvSpPr>
        <p:spPr>
          <a:xfrm>
            <a:off x="4754880" y="3703320"/>
            <a:ext cx="64008" cy="1097280"/>
          </a:xfrm>
          <a:prstGeom prst="rect">
            <a:avLst/>
          </a:prstGeom>
          <a:solidFill>
            <a:srgbClr val="4A9FD4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4023360"/>
            <a:ext cx="411480" cy="41148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468112" y="381304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Voter Anonymity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5468112" y="4215384"/>
            <a:ext cx="3246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Wallet addresses decouple personal identity from vote choice, preserving the secret ballot principle.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B4F8A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B4F8A"/>
                </a:solidFill>
              </a:rPr>
              <a:t>FUTURE SCOPE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Enhancements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6974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2697480" cy="502920"/>
          </a:xfrm>
          <a:prstGeom prst="rect">
            <a:avLst/>
          </a:prstGeom>
          <a:solidFill>
            <a:srgbClr val="1B4F8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430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8C4E0"/>
                </a:solidFill>
              </a:rPr>
              <a:t>Phase 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Mainnet Deployment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21208" y="1828800"/>
            <a:ext cx="128016" cy="128016"/>
          </a:xfrm>
          <a:prstGeom prst="ellipse">
            <a:avLst/>
          </a:prstGeom>
          <a:solidFill>
            <a:srgbClr val="1B4F8A"/>
          </a:solidFill>
          <a:ln/>
        </p:spPr>
      </p:sp>
      <p:sp>
        <p:nvSpPr>
          <p:cNvPr id="10" name="Text 8"/>
          <p:cNvSpPr/>
          <p:nvPr/>
        </p:nvSpPr>
        <p:spPr>
          <a:xfrm>
            <a:off x="740664" y="178308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Deploy on Ethereum Mainnet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21208" y="2606040"/>
            <a:ext cx="128016" cy="128016"/>
          </a:xfrm>
          <a:prstGeom prst="ellipse">
            <a:avLst/>
          </a:prstGeom>
          <a:solidFill>
            <a:srgbClr val="1B4F8A"/>
          </a:solidFill>
          <a:ln/>
        </p:spPr>
      </p:sp>
      <p:sp>
        <p:nvSpPr>
          <p:cNvPr id="12" name="Text 10"/>
          <p:cNvSpPr/>
          <p:nvPr/>
        </p:nvSpPr>
        <p:spPr>
          <a:xfrm>
            <a:off x="740664" y="256032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Gas optimization with Layer-2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21208" y="3383280"/>
            <a:ext cx="128016" cy="128016"/>
          </a:xfrm>
          <a:prstGeom prst="ellipse">
            <a:avLst/>
          </a:prstGeom>
          <a:solidFill>
            <a:srgbClr val="1B4F8A"/>
          </a:solidFill>
          <a:ln/>
        </p:spPr>
      </p:sp>
      <p:sp>
        <p:nvSpPr>
          <p:cNvPr id="14" name="Text 12"/>
          <p:cNvSpPr/>
          <p:nvPr/>
        </p:nvSpPr>
        <p:spPr>
          <a:xfrm>
            <a:off x="740664" y="333756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Multi-signature admin controls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0" y="1143000"/>
            <a:ext cx="26974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143000"/>
            <a:ext cx="269748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3337560" y="11430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8C4E0"/>
                </a:solidFill>
              </a:rPr>
              <a:t>Phase 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37560" y="13716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Mobile &amp; Biometrics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01568" y="1828800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3621024" y="178308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React Native mobile app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401568" y="2606040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3621024" y="256032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Biometric voter verification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401568" y="3383280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3621024" y="333756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Push notification alerts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080760" y="1143000"/>
            <a:ext cx="269748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80760" y="1143000"/>
            <a:ext cx="2697480" cy="5029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114300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8C4E0"/>
                </a:solidFill>
              </a:rPr>
              <a:t>Phase 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17920" y="13716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DAO Governance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281928" y="1828800"/>
            <a:ext cx="128016" cy="12801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0" name="Text 28"/>
          <p:cNvSpPr/>
          <p:nvPr/>
        </p:nvSpPr>
        <p:spPr>
          <a:xfrm>
            <a:off x="6501384" y="178308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Decentralized election setup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281928" y="2606040"/>
            <a:ext cx="128016" cy="12801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2" name="Text 30"/>
          <p:cNvSpPr/>
          <p:nvPr/>
        </p:nvSpPr>
        <p:spPr>
          <a:xfrm>
            <a:off x="6501384" y="256032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On-chain proposal system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281928" y="3383280"/>
            <a:ext cx="128016" cy="12801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4" name="Text 32"/>
          <p:cNvSpPr/>
          <p:nvPr/>
        </p:nvSpPr>
        <p:spPr>
          <a:xfrm>
            <a:off x="6501384" y="333756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Token-weighted voting option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D4FF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B4F8A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00D4FF">
              <a:alpha val="1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3840480" y="502920"/>
            <a:ext cx="1463040" cy="1463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0" kern="0" dirty="0">
                <a:solidFill>
                  <a:srgbClr val="00D4FF"/>
                </a:solidFill>
              </a:rPr>
              <a:t>CONCLUSION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19202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Elections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Decentralized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914400" y="33375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system demonstrates how Ethereum blockchain technology can solve the fundamental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of trust, transparency, and security in democratic voting processes.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645920" y="4297680"/>
            <a:ext cx="1828800" cy="594360"/>
          </a:xfrm>
          <a:prstGeom prst="rect">
            <a:avLst/>
          </a:prstGeom>
          <a:solidFill>
            <a:srgbClr val="132236"/>
          </a:solidFill>
          <a:ln/>
        </p:spPr>
      </p:sp>
      <p:sp>
        <p:nvSpPr>
          <p:cNvPr id="10" name="Text 7"/>
          <p:cNvSpPr/>
          <p:nvPr/>
        </p:nvSpPr>
        <p:spPr>
          <a:xfrm>
            <a:off x="1645920" y="42976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FF"/>
                </a:solidFill>
              </a:rPr>
              <a:t>100%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645920" y="46085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Tamper-Proof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931920" y="4297680"/>
            <a:ext cx="1828800" cy="594360"/>
          </a:xfrm>
          <a:prstGeom prst="rect">
            <a:avLst/>
          </a:prstGeom>
          <a:solidFill>
            <a:srgbClr val="132236"/>
          </a:solidFill>
          <a:ln/>
        </p:spPr>
      </p:sp>
      <p:sp>
        <p:nvSpPr>
          <p:cNvPr id="13" name="Text 10"/>
          <p:cNvSpPr/>
          <p:nvPr/>
        </p:nvSpPr>
        <p:spPr>
          <a:xfrm>
            <a:off x="3931920" y="42976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FF"/>
                </a:solidFill>
              </a:rPr>
              <a:t>0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3931920" y="46085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Intermediaries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217920" y="4297680"/>
            <a:ext cx="1828800" cy="594360"/>
          </a:xfrm>
          <a:prstGeom prst="rect">
            <a:avLst/>
          </a:prstGeom>
          <a:solidFill>
            <a:srgbClr val="132236"/>
          </a:solidFill>
          <a:ln/>
        </p:spPr>
      </p:sp>
      <p:sp>
        <p:nvSpPr>
          <p:cNvPr id="16" name="Text 13"/>
          <p:cNvSpPr/>
          <p:nvPr/>
        </p:nvSpPr>
        <p:spPr>
          <a:xfrm>
            <a:off x="6217920" y="42976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FF"/>
                </a:solidFill>
              </a:rPr>
              <a:t>∞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217920" y="46085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Auditability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B4F8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Decentralized Voting System - Ethereum Blockchain</dc:title>
  <dc:subject>PptxGenJS Presentation</dc:subject>
  <dc:creator>PptxGenJS</dc:creator>
  <cp:lastModifiedBy>PptxGenJS</cp:lastModifiedBy>
  <cp:revision>1</cp:revision>
  <dcterms:created xsi:type="dcterms:W3CDTF">2026-05-01T04:20:19Z</dcterms:created>
  <dcterms:modified xsi:type="dcterms:W3CDTF">2026-05-01T04:20:19Z</dcterms:modified>
</cp:coreProperties>
</file>